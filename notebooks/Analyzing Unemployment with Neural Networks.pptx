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Playfair Display" panose="020B0604020202020204" charset="0"/>
      <p:regular r:id="rId29"/>
      <p:bold r:id="rId30"/>
      <p:italic r:id="rId31"/>
      <p:boldItalic r:id="rId32"/>
    </p:embeddedFont>
    <p:embeddedFont>
      <p:font typeface="Urbanist" panose="020B060402020202020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163238-CD7C-4EC0-AE25-D816C04F1B64}">
  <a:tblStyle styleId="{63163238-CD7C-4EC0-AE25-D816C04F1B6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38" y="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4.png"/><Relationship Id="rId4" Type="http://schemas.openxmlformats.org/officeDocument/2006/relationships/image" Target="../media/image24.png"/><Relationship Id="rId9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yhamaltamimiofficial/GP_BI20252" TargetMode="Externa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0546" y="367604"/>
            <a:ext cx="762000" cy="92154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14375" y="1634579"/>
            <a:ext cx="6096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GRADUATION PROJECT 2026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714375" y="2044154"/>
            <a:ext cx="6400800" cy="1131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Analyzing </a:t>
            </a:r>
            <a:r>
              <a:rPr lang="en-US" sz="4050" b="1" i="0" u="none" strike="noStrike" cap="none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Unemployment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5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via Neural Networks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14375" y="3366045"/>
            <a:ext cx="6096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Case Study: Jordan &amp; Selected Arab Countries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14375" y="4509045"/>
            <a:ext cx="1752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Prepared by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14375" y="4994820"/>
            <a:ext cx="2179654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Ayham</a:t>
            </a:r>
            <a:r>
              <a:rPr lang="en-US" sz="1800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Altamimi</a:t>
            </a:r>
            <a:endParaRPr dirty="0"/>
          </a:p>
        </p:txBody>
      </p:sp>
      <p:sp>
        <p:nvSpPr>
          <p:cNvPr id="92" name="Google Shape;92;p13"/>
          <p:cNvSpPr txBox="1"/>
          <p:nvPr/>
        </p:nvSpPr>
        <p:spPr>
          <a:xfrm>
            <a:off x="3238500" y="4509045"/>
            <a:ext cx="25146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Supervised by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3238500" y="4994820"/>
            <a:ext cx="25146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Prof. Ayman Mansour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F447E2D-70A1-43ED-B555-438181E1DB49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546" y="367603"/>
            <a:ext cx="742922" cy="9215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7" y="2032843"/>
            <a:ext cx="516731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714375" y="2947243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Global &amp; Regional Shift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3480643"/>
            <a:ext cx="516731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Unemployment is a multi-dimensional socio-economic challenge, especially in the MENA region. Jordan faces unique volatility due to geopolitical and economic shifts.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714375" y="4633168"/>
            <a:ext cx="516731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Traditional theories (Okun's Law) provide a baseline, but modern volatility requires </a:t>
            </a: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Business Intelligence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 capture hidden non-linear patterns.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2237" y="2051893"/>
            <a:ext cx="5129212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14375" y="918418"/>
            <a:ext cx="6010751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BACKGROUND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14375" y="1623268"/>
            <a:ext cx="572452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504182"/>
            <a:ext cx="3444924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5049" y="2504182"/>
            <a:ext cx="3444924" cy="33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5724" y="2504182"/>
            <a:ext cx="3444924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8375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00125" y="3675757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Model Limitations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4209157"/>
            <a:ext cx="2873424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Traditional statistical models (like OLS) fail to account for non-linear shifts in technology and trade.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83755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4730799" y="3675757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Data Complexity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4730799" y="4209157"/>
            <a:ext cx="2873424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Standard models cannot efficiently process 65 years of diverse indicators (21 variables) with high precision.</a:t>
            </a:r>
            <a:endParaRPr/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83755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8461474" y="3675757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Strategic Gap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461474" y="4209157"/>
            <a:ext cx="2873424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 critical need exists for an AI-driven framework to provide "Actionable Insights" for Jordanian policymakers.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14375" y="950862"/>
            <a:ext cx="692086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PROBLEM STATEMENT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714375" y="1655712"/>
            <a:ext cx="659130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032843"/>
            <a:ext cx="516731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425" y="2051893"/>
            <a:ext cx="5129212" cy="424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453187" y="2490043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Identify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most significant economic indicators affecting Jordan.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453187" y="3404443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Design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 Artificial Neural Network (ANN) for precise forecasting.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453187" y="4318843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Evaluate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role of High-Tech and ICT exports in labor market resilience.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453187" y="5233243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Propose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the SAIEF Strategic Framework for decision-makers.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3187" y="25329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3187" y="34473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3187" y="436170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53187" y="527610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 txBox="1"/>
          <p:nvPr/>
        </p:nvSpPr>
        <p:spPr>
          <a:xfrm>
            <a:off x="714375" y="918418"/>
            <a:ext cx="5970746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OBJECTIVES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14375" y="1623268"/>
            <a:ext cx="568642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947094"/>
            <a:ext cx="5167312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7" y="2947094"/>
            <a:ext cx="5167312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1000125" y="3547169"/>
            <a:ext cx="4825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H1: Tech-Led Resilience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000125" y="4080569"/>
            <a:ext cx="459581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Non-linear relationship exists between technological adoption (ICT exports) and unemployment reduction.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6738937" y="3547169"/>
            <a:ext cx="482560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H2: AI Superiority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738937" y="4080569"/>
            <a:ext cx="459581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ANN models achieve significantly higher predictive accuracy compared to traditional linear statistical models.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14375" y="950862"/>
            <a:ext cx="4990623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CORE HYPOTHESES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14375" y="1655712"/>
            <a:ext cx="475297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7" y="2508944"/>
            <a:ext cx="516731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 txBox="1"/>
          <p:nvPr/>
        </p:nvSpPr>
        <p:spPr>
          <a:xfrm>
            <a:off x="714375" y="3066157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The Dataset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1057275" y="354240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095375" y="3542407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World Bank Open Data (1960–2025).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57275" y="3951982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1095375" y="3951982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Timeline: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65 years of longitudinal historical records.</a:t>
            </a:r>
            <a:endParaRPr dirty="0"/>
          </a:p>
        </p:txBody>
      </p:sp>
      <p:sp>
        <p:nvSpPr>
          <p:cNvPr id="171" name="Google Shape;171;p18"/>
          <p:cNvSpPr txBox="1"/>
          <p:nvPr/>
        </p:nvSpPr>
        <p:spPr>
          <a:xfrm>
            <a:off x="1057275" y="436155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1095375" y="4361557"/>
            <a:ext cx="4786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Geography: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Jordan (Focus) + Egypt, Lebanon, Morocco, Tunisia.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1057275" y="5085457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1095375" y="5085457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Variables: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21 Independent features.</a:t>
            </a:r>
            <a:endParaRPr/>
          </a:p>
        </p:txBody>
      </p:sp>
      <p:pic>
        <p:nvPicPr>
          <p:cNvPr id="175" name="Google Shape;175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2237" y="2527994"/>
            <a:ext cx="5129212" cy="329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14375" y="950862"/>
            <a:ext cx="6270783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SOURCES &amp; SCOPE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14375" y="1655712"/>
            <a:ext cx="597217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4" name="Google Shape;184;p19"/>
          <p:cNvGraphicFramePr/>
          <p:nvPr>
            <p:extLst>
              <p:ext uri="{D42A27DB-BD31-4B8C-83A1-F6EECF244321}">
                <p14:modId xmlns:p14="http://schemas.microsoft.com/office/powerpoint/2010/main" val="936997053"/>
              </p:ext>
            </p:extLst>
          </p:nvPr>
        </p:nvGraphicFramePr>
        <p:xfrm>
          <a:off x="714375" y="3118544"/>
          <a:ext cx="10906150" cy="2305000"/>
        </p:xfrm>
        <a:graphic>
          <a:graphicData uri="http://schemas.openxmlformats.org/drawingml/2006/table">
            <a:tbl>
              <a:tblPr firstRow="1" bandRow="1">
                <a:noFill/>
                <a:tableStyleId>{63163238-CD7C-4EC0-AE25-D816C04F1B64}</a:tableStyleId>
              </a:tblPr>
              <a:tblGrid>
                <a:gridCol w="200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Cluster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Indicators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Rationale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8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Macro-Stability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GDP Growth, Inflation (CPI), FDI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Overall economic health and shocks.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Trade &amp; Tech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High-Tech Exports, ICT Services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Knowledge-based economy drivers.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Social/Human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Edu. Expenditure, Population Growth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Workforce quality and demographic pressure.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Labor Market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LFPR, Youth/Female Unemployment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Structural demographics of target variable.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5" name="Google Shape;185;p19"/>
          <p:cNvSpPr/>
          <p:nvPr/>
        </p:nvSpPr>
        <p:spPr>
          <a:xfrm>
            <a:off x="714375" y="4066282"/>
            <a:ext cx="20072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721619" y="4066282"/>
            <a:ext cx="401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6736258" y="4066282"/>
            <a:ext cx="4884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14375" y="4513957"/>
            <a:ext cx="20072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721619" y="4513957"/>
            <a:ext cx="401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6736258" y="4513957"/>
            <a:ext cx="4884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714375" y="4961632"/>
            <a:ext cx="20072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2721619" y="4961632"/>
            <a:ext cx="401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736258" y="4961632"/>
            <a:ext cx="4884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14375" y="5409307"/>
            <a:ext cx="2007244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721619" y="5409307"/>
            <a:ext cx="4014638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736258" y="5409307"/>
            <a:ext cx="4884241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714375" y="950862"/>
            <a:ext cx="802100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21 ECONOMIC INDICATORS</a:t>
            </a:r>
            <a:endParaRPr/>
          </a:p>
        </p:txBody>
      </p:sp>
      <p:sp>
        <p:nvSpPr>
          <p:cNvPr id="198" name="Google Shape;198;p19"/>
          <p:cNvSpPr/>
          <p:nvPr/>
        </p:nvSpPr>
        <p:spPr>
          <a:xfrm>
            <a:off x="714375" y="1655712"/>
            <a:ext cx="763905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0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714375" y="4156769"/>
            <a:ext cx="10906125" cy="381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654393" y="3709094"/>
            <a:ext cx="25192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Data Ingestion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714375" y="4661594"/>
            <a:ext cx="239925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Extracting from World Bank (CSV/Excel)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3490015" y="3709094"/>
            <a:ext cx="25192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Preprocessing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3549997" y="4661594"/>
            <a:ext cx="239925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Cleaning, Imputation &amp; Scaling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325638" y="3709094"/>
            <a:ext cx="25192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ANN Design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385619" y="4661594"/>
            <a:ext cx="2399258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64-32 Neuron Hidden Layers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9161260" y="3709094"/>
            <a:ext cx="25192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BI Layer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9221241" y="4661594"/>
            <a:ext cx="239925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Visualization in Power BI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14375" y="950862"/>
            <a:ext cx="698087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METHODOLOGY</a:t>
            </a:r>
            <a:endParaRPr/>
          </a:p>
        </p:txBody>
      </p:sp>
      <p:sp>
        <p:nvSpPr>
          <p:cNvPr id="215" name="Google Shape;215;p20"/>
          <p:cNvSpPr/>
          <p:nvPr/>
        </p:nvSpPr>
        <p:spPr>
          <a:xfrm>
            <a:off x="714375" y="1655712"/>
            <a:ext cx="664845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1799629" y="422344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635251" y="422344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7470874" y="422344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0306496" y="4223444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7" y="2032843"/>
            <a:ext cx="5167312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714375" y="2728168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Multi-Layer Perceptron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714375" y="3261568"/>
            <a:ext cx="5167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Architecture:</a:t>
            </a: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21-64-32-1 Topology.</a:t>
            </a:r>
            <a:endParaRPr dirty="0"/>
          </a:p>
        </p:txBody>
      </p:sp>
      <p:sp>
        <p:nvSpPr>
          <p:cNvPr id="229" name="Google Shape;229;p21"/>
          <p:cNvSpPr txBox="1"/>
          <p:nvPr/>
        </p:nvSpPr>
        <p:spPr>
          <a:xfrm>
            <a:off x="714375" y="5480893"/>
            <a:ext cx="5167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Activation: ReLU | Optimizer: Adam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1057275" y="3728293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1095375" y="3728293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21 Economic neurons.</a:t>
            </a: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1057275" y="413786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095375" y="4137868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Hidden 1 (64):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Macro-trend detection.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57275" y="4547443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1095375" y="4547443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Hidden 2 (32):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Synergistic pattern mapping.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1057275" y="4957018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1095375" y="4957018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Output (1):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Predicted Unemployment.</a:t>
            </a:r>
            <a:endParaRPr/>
          </a:p>
        </p:txBody>
      </p:sp>
      <p:pic>
        <p:nvPicPr>
          <p:cNvPr id="238" name="Google Shape;2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62737" y="2242393"/>
            <a:ext cx="4748212" cy="386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14375" y="918418"/>
            <a:ext cx="7450931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AI PART: ANN ARCHITECTURE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714375" y="1623268"/>
            <a:ext cx="709612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747069"/>
            <a:ext cx="5167312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53187" y="4006155"/>
            <a:ext cx="5167312" cy="102512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6453187" y="2653605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Min-Max Normalization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6453187" y="3187005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Scaling variables to a uniform range of [0, 1] to prevent "Magnitude Bias" (e.g., GDP vs % Inflation).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6453187" y="5240833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Handling missing values using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Mean Imputation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&amp; Interpolation.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3425" y="2766119"/>
            <a:ext cx="5129212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43687" y="4196655"/>
            <a:ext cx="4786312" cy="644128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714375" y="950862"/>
            <a:ext cx="6020752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PRE-PROCESSING</a:t>
            </a: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714375" y="1655712"/>
            <a:ext cx="573405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661344"/>
            <a:ext cx="3444924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5049" y="2661344"/>
            <a:ext cx="3444924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5724" y="2661344"/>
            <a:ext cx="3444924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994719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1000125" y="383291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Software Stack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1000125" y="4366319"/>
            <a:ext cx="2873424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Python 3.10 | TensorFlow | Keras | Scikit-learn</a:t>
            </a:r>
            <a:endParaRPr/>
          </a:p>
        </p:txBody>
      </p:sp>
      <p:pic>
        <p:nvPicPr>
          <p:cNvPr id="268" name="Google Shape;268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4730799" y="383291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Train-Test Split</a:t>
            </a: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4730799" y="4366319"/>
            <a:ext cx="2873424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80% Training (Learning patterns) | 20% Testing (Generalization)</a:t>
            </a:r>
            <a:endParaRPr/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 txBox="1"/>
          <p:nvPr/>
        </p:nvSpPr>
        <p:spPr>
          <a:xfrm>
            <a:off x="8461474" y="383291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Hyperparameters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8461474" y="4366319"/>
            <a:ext cx="2873424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100 Epochs | Batch Size: 32 | Learning Rate: Adaptive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714375" y="950862"/>
            <a:ext cx="588073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OPTIMIZATION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714375" y="1655712"/>
            <a:ext cx="560070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4"/>
          <p:cNvSpPr txBox="1"/>
          <p:nvPr/>
        </p:nvSpPr>
        <p:spPr>
          <a:xfrm>
            <a:off x="571500" y="950862"/>
            <a:ext cx="48006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BI SYSTEM DESIGN</a:t>
            </a:r>
            <a:endParaRPr/>
          </a:p>
        </p:txBody>
      </p:sp>
      <p:sp>
        <p:nvSpPr>
          <p:cNvPr id="282" name="Google Shape;282;p24"/>
          <p:cNvSpPr/>
          <p:nvPr/>
        </p:nvSpPr>
        <p:spPr>
          <a:xfrm>
            <a:off x="571500" y="1655712"/>
            <a:ext cx="457200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571500" y="233198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Power BI Integration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571500" y="2865387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system transforms complex ANN outputs into a visual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Decision Support System (DSS)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571500" y="3703587"/>
            <a:ext cx="495300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Includes interactive maps for regional comparison, trend slicers for historical analysis, and correlation heatmaps for feature discovery.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571500" y="479896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Descriptive clarity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571500" y="5208537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Predictive intelligence</a:t>
            </a:r>
            <a:endParaRPr/>
          </a:p>
        </p:txBody>
      </p:sp>
      <p:pic>
        <p:nvPicPr>
          <p:cNvPr id="289" name="Google Shape;28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4182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52514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48F9772-4457-48F1-90FA-73D39595D2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690" y="1"/>
            <a:ext cx="59731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1889968"/>
            <a:ext cx="5167312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5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 txBox="1"/>
          <p:nvPr/>
        </p:nvSpPr>
        <p:spPr>
          <a:xfrm>
            <a:off x="6453187" y="3085355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Visual Evidence</a:t>
            </a:r>
            <a:endParaRPr/>
          </a:p>
        </p:txBody>
      </p:sp>
      <p:sp>
        <p:nvSpPr>
          <p:cNvPr id="299" name="Google Shape;299;p25"/>
          <p:cNvSpPr txBox="1"/>
          <p:nvPr/>
        </p:nvSpPr>
        <p:spPr>
          <a:xfrm>
            <a:off x="6453187" y="4923680"/>
            <a:ext cx="5167312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1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"The dashboard enables policymakers to perform 'What-If' scenarios based on our AI weights."</a:t>
            </a:r>
            <a:endParaRPr/>
          </a:p>
        </p:txBody>
      </p:sp>
      <p:sp>
        <p:nvSpPr>
          <p:cNvPr id="301" name="Google Shape;301;p25"/>
          <p:cNvSpPr txBox="1"/>
          <p:nvPr/>
        </p:nvSpPr>
        <p:spPr>
          <a:xfrm>
            <a:off x="6796087" y="359970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6834187" y="3599705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Geospatial Map: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Tracks regional hotspots.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6796087" y="4009280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6834187" y="4009280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Time-Series: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Monitors shocks from 1960-2025.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6796087" y="4418855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6834187" y="4418855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Scatter Plot: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Tech Exports vs Unemployment.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714375" y="775543"/>
            <a:ext cx="6830853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INTERACTIVE DASHBOARD</a:t>
            </a:r>
            <a:endParaRPr/>
          </a:p>
        </p:txBody>
      </p:sp>
      <p:sp>
        <p:nvSpPr>
          <p:cNvPr id="308" name="Google Shape;308;p25"/>
          <p:cNvSpPr/>
          <p:nvPr/>
        </p:nvSpPr>
        <p:spPr>
          <a:xfrm>
            <a:off x="714375" y="1480393"/>
            <a:ext cx="650557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24B42D-7496-4087-A2AF-FC331E48D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4" y="1889968"/>
            <a:ext cx="5167312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7" y="2270819"/>
            <a:ext cx="5167312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6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6"/>
          <p:cNvSpPr txBox="1"/>
          <p:nvPr/>
        </p:nvSpPr>
        <p:spPr>
          <a:xfrm>
            <a:off x="714375" y="3009007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The Heatmap Analysis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714375" y="3542407"/>
            <a:ext cx="5167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Correlation Discovery revealed: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714375" y="4009132"/>
            <a:ext cx="5167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Strong link between Internet Usage and ICT Exports.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714375" y="4418707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Inverse relationship between High-Tech exports and Unemployment.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714375" y="5142607"/>
            <a:ext cx="5167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622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Structural mismatch found in Education clusters.</a:t>
            </a:r>
            <a:endParaRPr/>
          </a:p>
        </p:txBody>
      </p:sp>
      <p:pic>
        <p:nvPicPr>
          <p:cNvPr id="322" name="Google Shape;322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405199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4461569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5185469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/>
        </p:nvSpPr>
        <p:spPr>
          <a:xfrm>
            <a:off x="714375" y="950862"/>
            <a:ext cx="636079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EXPLORATORY INSIGHTS</a:t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714375" y="1655712"/>
            <a:ext cx="605790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4BE27A-E4FB-4754-A6A8-540D25D60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2062" y="2270819"/>
            <a:ext cx="5167313" cy="3781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3004244"/>
            <a:ext cx="5167312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7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7"/>
          <p:cNvSpPr txBox="1"/>
          <p:nvPr/>
        </p:nvSpPr>
        <p:spPr>
          <a:xfrm>
            <a:off x="6453187" y="2851844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Exceptional Performance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6453187" y="3385244"/>
            <a:ext cx="5167312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The model explains nearly 80% of the variance in unemployment trends. In macroeconomics, this is considered highly robust.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1104900" y="3394769"/>
            <a:ext cx="4386262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 dirty="0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79.87%</a:t>
            </a:r>
            <a:endParaRPr dirty="0"/>
          </a:p>
        </p:txBody>
      </p:sp>
      <p:sp>
        <p:nvSpPr>
          <p:cNvPr id="337" name="Google Shape;337;p27"/>
          <p:cNvSpPr txBox="1"/>
          <p:nvPr/>
        </p:nvSpPr>
        <p:spPr>
          <a:xfrm>
            <a:off x="1104900" y="4633019"/>
            <a:ext cx="43862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R-Squared Accuracy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6796087" y="4480619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6834187" y="4480619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MAE: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0.0369 (Near-zero deviation)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6796087" y="4890194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6834187" y="4890194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Reliability: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Consistent across 100 epochs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6796087" y="5299769"/>
            <a:ext cx="381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6834187" y="5299769"/>
            <a:ext cx="47863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Generalization: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Validated on unseen testing data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714375" y="950862"/>
            <a:ext cx="552069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PREDICTIVE RESULTS</a:t>
            </a:r>
            <a:endParaRPr/>
          </a:p>
        </p:txBody>
      </p:sp>
      <p:sp>
        <p:nvSpPr>
          <p:cNvPr id="345" name="Google Shape;345;p27"/>
          <p:cNvSpPr/>
          <p:nvPr/>
        </p:nvSpPr>
        <p:spPr>
          <a:xfrm>
            <a:off x="714375" y="1655712"/>
            <a:ext cx="525780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1512540"/>
            <a:ext cx="109061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8"/>
          <p:cNvSpPr txBox="1"/>
          <p:nvPr/>
        </p:nvSpPr>
        <p:spPr>
          <a:xfrm>
            <a:off x="714375" y="5722590"/>
            <a:ext cx="10906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MSE Loss Curve: Training vs. Validation Loss showing stable convergence without overfitting.</a:t>
            </a:r>
            <a:endParaRPr/>
          </a:p>
        </p:txBody>
      </p:sp>
      <p:pic>
        <p:nvPicPr>
          <p:cNvPr id="355" name="Google Shape;35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7687" y="6227415"/>
            <a:ext cx="3619500" cy="51673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8"/>
          <p:cNvSpPr txBox="1"/>
          <p:nvPr/>
        </p:nvSpPr>
        <p:spPr>
          <a:xfrm>
            <a:off x="714375" y="398115"/>
            <a:ext cx="5890736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CONVERGENCE</a:t>
            </a:r>
            <a:endParaRPr/>
          </a:p>
        </p:txBody>
      </p:sp>
      <p:sp>
        <p:nvSpPr>
          <p:cNvPr id="357" name="Google Shape;357;p28"/>
          <p:cNvSpPr/>
          <p:nvPr/>
        </p:nvSpPr>
        <p:spPr>
          <a:xfrm>
            <a:off x="714375" y="1102965"/>
            <a:ext cx="561022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CA9FEA-59A1-40E2-8496-5C88467B2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212" y="1607790"/>
            <a:ext cx="6177576" cy="3612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065287"/>
            <a:ext cx="10906125" cy="4221212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9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9"/>
          <p:cNvSpPr txBox="1"/>
          <p:nvPr/>
        </p:nvSpPr>
        <p:spPr>
          <a:xfrm>
            <a:off x="714375" y="5433119"/>
            <a:ext cx="1090612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Discovery: Jordan's shift toward tech-exports is the most effective lever for reducing unemployment spikes.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714375" y="950862"/>
            <a:ext cx="6360795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"HIGH-TECH" LEVER</a:t>
            </a:r>
            <a:endParaRPr/>
          </a:p>
        </p:txBody>
      </p:sp>
      <p:sp>
        <p:nvSpPr>
          <p:cNvPr id="367" name="Google Shape;367;p29"/>
          <p:cNvSpPr/>
          <p:nvPr/>
        </p:nvSpPr>
        <p:spPr>
          <a:xfrm>
            <a:off x="714375" y="1655712"/>
            <a:ext cx="605790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2661344"/>
            <a:ext cx="3444924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45049" y="2661344"/>
            <a:ext cx="3444924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75724" y="2661344"/>
            <a:ext cx="3444924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0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1000125" y="383291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Pillar I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1000125" y="4366319"/>
            <a:ext cx="2873424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Predictive Monitoring: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Real-time integration of ANN into policy cycles.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4730799" y="383291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Pillar II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4730799" y="4366319"/>
            <a:ext cx="2873424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Visual Analytics: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Government BI Dashboards for transparency.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8461474" y="3832919"/>
            <a:ext cx="301709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Pillar III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8461474" y="4366319"/>
            <a:ext cx="2873424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Dynamic Policy: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'What-If' simulations for targeted funding.</a:t>
            </a:r>
            <a:endParaRPr/>
          </a:p>
        </p:txBody>
      </p:sp>
      <p:pic>
        <p:nvPicPr>
          <p:cNvPr id="383" name="Google Shape;383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30799" y="299471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61474" y="299471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0"/>
          <p:cNvSpPr txBox="1"/>
          <p:nvPr/>
        </p:nvSpPr>
        <p:spPr>
          <a:xfrm>
            <a:off x="714375" y="950862"/>
            <a:ext cx="6110763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THE SAIEF FRAMEWORK</a:t>
            </a:r>
            <a:endParaRPr/>
          </a:p>
        </p:txBody>
      </p:sp>
      <p:sp>
        <p:nvSpPr>
          <p:cNvPr id="387" name="Google Shape;387;p30"/>
          <p:cNvSpPr/>
          <p:nvPr/>
        </p:nvSpPr>
        <p:spPr>
          <a:xfrm>
            <a:off x="714375" y="1655712"/>
            <a:ext cx="581977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2" name="Google Shape;392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53187" y="3404294"/>
            <a:ext cx="5167312" cy="15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1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 txBox="1"/>
          <p:nvPr/>
        </p:nvSpPr>
        <p:spPr>
          <a:xfrm>
            <a:off x="714375" y="2842319"/>
            <a:ext cx="542567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Key Takeaways</a:t>
            </a:r>
            <a:endParaRPr/>
          </a:p>
        </p:txBody>
      </p:sp>
      <p:sp>
        <p:nvSpPr>
          <p:cNvPr id="396" name="Google Shape;396;p31"/>
          <p:cNvSpPr txBox="1"/>
          <p:nvPr/>
        </p:nvSpPr>
        <p:spPr>
          <a:xfrm>
            <a:off x="714375" y="3375719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1. Unemployment is non-linear; AI (ANN) is essential for precision.</a:t>
            </a:r>
            <a:endParaRPr/>
          </a:p>
        </p:txBody>
      </p:sp>
      <p:sp>
        <p:nvSpPr>
          <p:cNvPr id="397" name="Google Shape;397;p31"/>
          <p:cNvSpPr txBox="1"/>
          <p:nvPr/>
        </p:nvSpPr>
        <p:spPr>
          <a:xfrm>
            <a:off x="714375" y="4213919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2. Technology industrialization is the catalyst for economic transformation.</a:t>
            </a:r>
            <a:endParaRPr/>
          </a:p>
        </p:txBody>
      </p:sp>
      <p:sp>
        <p:nvSpPr>
          <p:cNvPr id="398" name="Google Shape;398;p31"/>
          <p:cNvSpPr txBox="1"/>
          <p:nvPr/>
        </p:nvSpPr>
        <p:spPr>
          <a:xfrm>
            <a:off x="714375" y="5052119"/>
            <a:ext cx="5167312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3. Transitioning from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Descriptive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to </a:t>
            </a:r>
            <a:r>
              <a:rPr lang="en-US" sz="1650" b="1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Predictive</a:t>
            </a:r>
            <a:r>
              <a:rPr lang="en-US" sz="165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 analytics is Jordan's path forward.</a:t>
            </a:r>
            <a:endParaRPr/>
          </a:p>
        </p:txBody>
      </p:sp>
      <p:sp>
        <p:nvSpPr>
          <p:cNvPr id="399" name="Google Shape;399;p31"/>
          <p:cNvSpPr txBox="1"/>
          <p:nvPr/>
        </p:nvSpPr>
        <p:spPr>
          <a:xfrm>
            <a:off x="6653212" y="3794819"/>
            <a:ext cx="476726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Vision 2033 Alignment</a:t>
            </a:r>
            <a:endParaRPr/>
          </a:p>
        </p:txBody>
      </p:sp>
      <p:sp>
        <p:nvSpPr>
          <p:cNvPr id="400" name="Google Shape;400;p31"/>
          <p:cNvSpPr txBox="1"/>
          <p:nvPr/>
        </p:nvSpPr>
        <p:spPr>
          <a:xfrm>
            <a:off x="6653212" y="4309169"/>
            <a:ext cx="476726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800000"/>
                </a:solidFill>
                <a:latin typeface="Urbanist"/>
                <a:ea typeface="Urbanist"/>
                <a:cs typeface="Urbanist"/>
                <a:sym typeface="Urbanist"/>
              </a:rPr>
              <a:t>Data-Driven Governance</a:t>
            </a:r>
            <a:endParaRPr/>
          </a:p>
        </p:txBody>
      </p:sp>
      <p:sp>
        <p:nvSpPr>
          <p:cNvPr id="401" name="Google Shape;401;p31"/>
          <p:cNvSpPr txBox="1"/>
          <p:nvPr/>
        </p:nvSpPr>
        <p:spPr>
          <a:xfrm>
            <a:off x="714375" y="950862"/>
            <a:ext cx="342042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CONCLUSION</a:t>
            </a:r>
            <a:endParaRPr/>
          </a:p>
        </p:txBody>
      </p:sp>
      <p:sp>
        <p:nvSpPr>
          <p:cNvPr id="402" name="Google Shape;402;p31"/>
          <p:cNvSpPr/>
          <p:nvPr/>
        </p:nvSpPr>
        <p:spPr>
          <a:xfrm>
            <a:off x="714375" y="1655712"/>
            <a:ext cx="3257550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oogle Shape;407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32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2"/>
          <p:cNvSpPr txBox="1"/>
          <p:nvPr/>
        </p:nvSpPr>
        <p:spPr>
          <a:xfrm>
            <a:off x="4057650" y="4802088"/>
            <a:ext cx="421957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Prepared by: </a:t>
            </a: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Ayham Altamimi</a:t>
            </a:r>
            <a:endParaRPr dirty="0"/>
          </a:p>
        </p:txBody>
      </p:sp>
      <p:sp>
        <p:nvSpPr>
          <p:cNvPr id="411" name="Google Shape;411;p32"/>
          <p:cNvSpPr txBox="1"/>
          <p:nvPr/>
        </p:nvSpPr>
        <p:spPr>
          <a:xfrm>
            <a:off x="4057650" y="5325963"/>
            <a:ext cx="4219575" cy="38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Supervised by: </a:t>
            </a:r>
            <a:r>
              <a:rPr lang="en-US" sz="1650" b="1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Prof. Ayman Mansour</a:t>
            </a:r>
            <a:endParaRPr dirty="0"/>
          </a:p>
        </p:txBody>
      </p:sp>
      <p:sp>
        <p:nvSpPr>
          <p:cNvPr id="412" name="Google Shape;412;p32"/>
          <p:cNvSpPr txBox="1"/>
          <p:nvPr/>
        </p:nvSpPr>
        <p:spPr>
          <a:xfrm>
            <a:off x="6486525" y="6033166"/>
            <a:ext cx="20324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Ayham Altamimi  University of Petra</a:t>
            </a:r>
            <a:endParaRPr dirty="0"/>
          </a:p>
        </p:txBody>
      </p:sp>
      <p:pic>
        <p:nvPicPr>
          <p:cNvPr id="413" name="Google Shape;41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53623" y="6196108"/>
            <a:ext cx="1809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49800" y="6196108"/>
            <a:ext cx="2381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2"/>
          <p:cNvSpPr txBox="1"/>
          <p:nvPr/>
        </p:nvSpPr>
        <p:spPr>
          <a:xfrm>
            <a:off x="4087177" y="2409527"/>
            <a:ext cx="416052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</a:t>
            </a:r>
            <a:r>
              <a:rPr lang="en-US" sz="6000" b="1" i="0" u="none" strike="noStrike" cap="none" dirty="0">
                <a:solidFill>
                  <a:srgbClr val="8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You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!</a:t>
            </a:r>
            <a:endParaRPr dirty="0"/>
          </a:p>
        </p:txBody>
      </p:sp>
      <p:sp>
        <p:nvSpPr>
          <p:cNvPr id="416" name="Google Shape;416;p32"/>
          <p:cNvSpPr txBox="1"/>
          <p:nvPr/>
        </p:nvSpPr>
        <p:spPr>
          <a:xfrm>
            <a:off x="4122181" y="3438227"/>
            <a:ext cx="409051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 &amp; Discussion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CC52B6-9CDA-44CF-9528-7868E6C56089}"/>
              </a:ext>
            </a:extLst>
          </p:cNvPr>
          <p:cNvSpPr/>
          <p:nvPr/>
        </p:nvSpPr>
        <p:spPr>
          <a:xfrm>
            <a:off x="1834598" y="6110109"/>
            <a:ext cx="44342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u="sng" dirty="0">
                <a:hlinkClick r:id="rId6"/>
              </a:rPr>
              <a:t>https://github.com/ayhamaltamimiofficial/GP_BI20252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3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714375" y="1694705"/>
            <a:ext cx="10906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714375" y="2466230"/>
            <a:ext cx="10906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714375" y="3237755"/>
            <a:ext cx="10906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714375" y="4180730"/>
            <a:ext cx="109061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714375" y="4952255"/>
            <a:ext cx="10906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714375" y="2456705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3"/>
          <p:cNvSpPr/>
          <p:nvPr/>
        </p:nvSpPr>
        <p:spPr>
          <a:xfrm>
            <a:off x="714375" y="2456705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714375" y="3228230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714375" y="3228230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714375" y="4171205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714375" y="4171205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714375" y="4942730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714375" y="4942730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714375" y="5885705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714375" y="5885705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18375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3"/>
          <p:cNvSpPr txBox="1"/>
          <p:nvPr/>
        </p:nvSpPr>
        <p:spPr>
          <a:xfrm>
            <a:off x="1809750" y="1844724"/>
            <a:ext cx="98107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https://upload.wikimedia.org/wikipedia/commons/thumb/2/2f/Treasury_petra_crop.jpeg/1280px-Treasury_petra_crop.jpeg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1809750" y="2078087"/>
            <a:ext cx="981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en.wikipedia.org</a:t>
            </a:r>
            <a:endParaRPr/>
          </a:p>
        </p:txBody>
      </p:sp>
      <p:pic>
        <p:nvPicPr>
          <p:cNvPr id="441" name="Google Shape;441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4375" y="26091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3"/>
          <p:cNvSpPr txBox="1"/>
          <p:nvPr/>
        </p:nvSpPr>
        <p:spPr>
          <a:xfrm>
            <a:off x="1809750" y="2616249"/>
            <a:ext cx="98107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https://s7d1.scene7.com/is/image/wbcollab/Income-Level-map?qlt=90&amp;fmt=webp&amp;resMode=sharp2</a:t>
            </a:r>
            <a:endParaRPr/>
          </a:p>
        </p:txBody>
      </p:sp>
      <p:sp>
        <p:nvSpPr>
          <p:cNvPr id="443" name="Google Shape;443;p33"/>
          <p:cNvSpPr txBox="1"/>
          <p:nvPr/>
        </p:nvSpPr>
        <p:spPr>
          <a:xfrm>
            <a:off x="1809750" y="2849612"/>
            <a:ext cx="981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blogs.worldbank.org</a:t>
            </a:r>
            <a:endParaRPr/>
          </a:p>
        </p:txBody>
      </p:sp>
      <p:pic>
        <p:nvPicPr>
          <p:cNvPr id="444" name="Google Shape;444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4375" y="34663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3"/>
          <p:cNvSpPr txBox="1"/>
          <p:nvPr/>
        </p:nvSpPr>
        <p:spPr>
          <a:xfrm>
            <a:off x="1809750" y="3380630"/>
            <a:ext cx="9810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https://substackcdn.com/image/fetch/f_auto,q_auto:good,fl_progressive:steep/https%3A%2F%2Fsubstack-post-media.s3.amazonaws.com%2Fpublic%2Fimages%2F2314d431-64dd-41af-9c52-905c4d5722a0_1457x1461.jpeg</a:t>
            </a:r>
            <a:endParaRPr/>
          </a:p>
        </p:txBody>
      </p:sp>
      <p:sp>
        <p:nvSpPr>
          <p:cNvPr id="446" name="Google Shape;446;p33"/>
          <p:cNvSpPr txBox="1"/>
          <p:nvPr/>
        </p:nvSpPr>
        <p:spPr>
          <a:xfrm>
            <a:off x="1809750" y="3799730"/>
            <a:ext cx="981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www.lennysnewsletter.com</a:t>
            </a:r>
            <a:endParaRPr/>
          </a:p>
        </p:txBody>
      </p:sp>
      <p:pic>
        <p:nvPicPr>
          <p:cNvPr id="447" name="Google Shape;447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14375" y="432360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33"/>
          <p:cNvSpPr txBox="1"/>
          <p:nvPr/>
        </p:nvSpPr>
        <p:spPr>
          <a:xfrm>
            <a:off x="1809750" y="4330749"/>
            <a:ext cx="9810750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https://www.mdpi.com/sensors/sensors-21-04427/article_deploy/html/images/sensors-21-04427-g005-550.jpg</a:t>
            </a:r>
            <a:endParaRPr/>
          </a:p>
        </p:txBody>
      </p:sp>
      <p:sp>
        <p:nvSpPr>
          <p:cNvPr id="449" name="Google Shape;449;p33"/>
          <p:cNvSpPr txBox="1"/>
          <p:nvPr/>
        </p:nvSpPr>
        <p:spPr>
          <a:xfrm>
            <a:off x="1809750" y="4564112"/>
            <a:ext cx="981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www.mdpi.com</a:t>
            </a:r>
            <a:endParaRPr/>
          </a:p>
        </p:txBody>
      </p:sp>
      <p:pic>
        <p:nvPicPr>
          <p:cNvPr id="450" name="Google Shape;450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375" y="518085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3"/>
          <p:cNvSpPr txBox="1"/>
          <p:nvPr/>
        </p:nvSpPr>
        <p:spPr>
          <a:xfrm>
            <a:off x="1809750" y="5095130"/>
            <a:ext cx="9810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https://media.istockphoto.com/id/2174607489/vector/outline-icons-set-depicting-data-refinement-data-removal-error-correction.jpg?s=612x612&amp;w=0&amp;k=20&amp;c=Mlh8WNIzP2O8sPTrmQYp6rYb57vHZTA6q1_wYkz_S8E=</a:t>
            </a:r>
            <a:endParaRPr/>
          </a:p>
        </p:txBody>
      </p:sp>
      <p:sp>
        <p:nvSpPr>
          <p:cNvPr id="452" name="Google Shape;452;p33"/>
          <p:cNvSpPr txBox="1"/>
          <p:nvPr/>
        </p:nvSpPr>
        <p:spPr>
          <a:xfrm>
            <a:off x="1809750" y="5514230"/>
            <a:ext cx="981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www.istockphoto.com</a:t>
            </a:r>
            <a:endParaRPr/>
          </a:p>
        </p:txBody>
      </p:sp>
      <p:sp>
        <p:nvSpPr>
          <p:cNvPr id="456" name="Google Shape;456;p33"/>
          <p:cNvSpPr txBox="1"/>
          <p:nvPr/>
        </p:nvSpPr>
        <p:spPr>
          <a:xfrm>
            <a:off x="714375" y="580280"/>
            <a:ext cx="4210526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457" name="Google Shape;457;p33"/>
          <p:cNvSpPr/>
          <p:nvPr/>
        </p:nvSpPr>
        <p:spPr>
          <a:xfrm>
            <a:off x="714375" y="1285130"/>
            <a:ext cx="401002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31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4"/>
          <p:cNvSpPr/>
          <p:nvPr/>
        </p:nvSpPr>
        <p:spPr>
          <a:xfrm>
            <a:off x="0" y="0"/>
            <a:ext cx="14287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4"/>
          <p:cNvSpPr/>
          <p:nvPr/>
        </p:nvSpPr>
        <p:spPr>
          <a:xfrm>
            <a:off x="714375" y="3237607"/>
            <a:ext cx="10906125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714375" y="4171057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4"/>
          <p:cNvSpPr/>
          <p:nvPr/>
        </p:nvSpPr>
        <p:spPr>
          <a:xfrm>
            <a:off x="714375" y="4171057"/>
            <a:ext cx="10906125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0" name="Google Shape;47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" y="346620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4"/>
          <p:cNvSpPr txBox="1"/>
          <p:nvPr/>
        </p:nvSpPr>
        <p:spPr>
          <a:xfrm>
            <a:off x="1809750" y="3394950"/>
            <a:ext cx="9810750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https://elements-resized.envatousercontent.com/elements-video-cover-images/b7ef5529-5f36-4d1a-8eaa-95f9b8ff130c/video_preview/video_preview_0000.jpg?w=500&amp;cf_fit=cover&amp;q=85&amp;format=auto&amp;s=5036ba6743f103381e0e5657889d77e37bd6917b110a52c02f21c354ea535fe5</a:t>
            </a:r>
            <a:endParaRPr dirty="0"/>
          </a:p>
        </p:txBody>
      </p:sp>
      <p:sp>
        <p:nvSpPr>
          <p:cNvPr id="472" name="Google Shape;472;p34"/>
          <p:cNvSpPr txBox="1"/>
          <p:nvPr/>
        </p:nvSpPr>
        <p:spPr>
          <a:xfrm>
            <a:off x="1809750" y="3828157"/>
            <a:ext cx="9810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CCCCC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elements.envato.com</a:t>
            </a:r>
            <a:endParaRPr/>
          </a:p>
        </p:txBody>
      </p:sp>
      <p:sp>
        <p:nvSpPr>
          <p:cNvPr id="473" name="Google Shape;473;p34"/>
          <p:cNvSpPr txBox="1"/>
          <p:nvPr/>
        </p:nvSpPr>
        <p:spPr>
          <a:xfrm>
            <a:off x="714375" y="950862"/>
            <a:ext cx="4210526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474" name="Google Shape;474;p34"/>
          <p:cNvSpPr/>
          <p:nvPr/>
        </p:nvSpPr>
        <p:spPr>
          <a:xfrm>
            <a:off x="714375" y="1655712"/>
            <a:ext cx="4010025" cy="28575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1093</Words>
  <Application>Microsoft Office PowerPoint</Application>
  <PresentationFormat>Widescreen</PresentationFormat>
  <Paragraphs>156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Urbanist</vt:lpstr>
      <vt:lpstr>Calibri</vt:lpstr>
      <vt:lpstr>Playfair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LENOVO-H</cp:lastModifiedBy>
  <cp:revision>4</cp:revision>
  <dcterms:modified xsi:type="dcterms:W3CDTF">2026-05-30T18:10:36Z</dcterms:modified>
</cp:coreProperties>
</file>